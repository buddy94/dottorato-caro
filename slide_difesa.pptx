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occorrenze</c:v>
                </c:pt>
              </c:strCache>
            </c:strRef>
          </c:tx>
          <c:spPr>
            <a:solidFill>
              <a:srgbClr val="0E55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Vita</c:v>
                  </c:pt>
                  <c:pt idx="1">
                    <c:v>Amore</c:v>
                  </c:pt>
                  <c:pt idx="2">
                    <c:v>Giorno</c:v>
                  </c:pt>
                  <c:pt idx="3">
                    <c:v>Luce</c:v>
                  </c:pt>
                  <c:pt idx="4">
                    <c:v>Tempo</c:v>
                  </c:pt>
                  <c:pt idx="5">
                    <c:v>Occhio</c:v>
                  </c:pt>
                  <c:pt idx="6">
                    <c:v>Mano</c:v>
                  </c:pt>
                  <c:pt idx="7">
                    <c:v>Sole</c:v>
                  </c:pt>
                  <c:pt idx="8">
                    <c:v>Notte</c:v>
                  </c:pt>
                  <c:pt idx="9">
                    <c:v>Uomo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927</c:v>
                </c:pt>
                <c:pt idx="1">
                  <c:v>750</c:v>
                </c:pt>
                <c:pt idx="2">
                  <c:v>740</c:v>
                </c:pt>
                <c:pt idx="3">
                  <c:v>728</c:v>
                </c:pt>
                <c:pt idx="4">
                  <c:v>722</c:v>
                </c:pt>
                <c:pt idx="5">
                  <c:v>643</c:v>
                </c:pt>
                <c:pt idx="6">
                  <c:v>639</c:v>
                </c:pt>
                <c:pt idx="7">
                  <c:v>620</c:v>
                </c:pt>
                <c:pt idx="8">
                  <c:v>604</c:v>
                </c:pt>
                <c:pt idx="9">
                  <c:v>545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0E556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19788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parole e le cose degli anni Sessanta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Costruzione e studio della concordanza poetica (1960–1965)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Difesa di dottorato · Dipartimento di Italiano, Université de Fribourg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PUNTO DI PARTENZA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domande di ricerca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566928" cy="566928"/>
          </a:xfrm>
          <a:prstGeom prst="ellipse">
            <a:avLst/>
          </a:prstGeom>
          <a:solidFill>
            <a:srgbClr val="E886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Quale lingua?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lingua usano i poeti del primo Sessanta?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57400"/>
            <a:ext cx="566928" cy="566928"/>
          </a:xfrm>
          <a:prstGeom prst="ellipse">
            <a:avLst/>
          </a:prstGeom>
          <a:solidFill>
            <a:srgbClr val="E8862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Fili conduttori?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possibile individuare dei fils rouges nel corpus?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057400"/>
            <a:ext cx="566928" cy="566928"/>
          </a:xfrm>
          <a:prstGeom prst="ellipse">
            <a:avLst/>
          </a:prstGeom>
          <a:solidFill>
            <a:srgbClr val="E8862B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66760" y="2834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Trascendenza?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66760" y="33375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«trascendenza» montaliana è ancora possibile? Con quali tratti?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cornice: l’articolo di Montale «Poesia inclusiva» (Corriere della Sera).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1960–65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sfida di Montale: la «poesia inclusiva»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pPr indent="0" marL="0">
              <a:buNone/>
            </a:pPr>
            <a:r>
              <a:rPr lang="en-US" sz="1800" i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Inclusivi di tutto, [i nuovi poeti] escludono la trascendenza di quella che fu tradizionalmente la poesia e l’alta retorica.»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4572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Montale, «Poesia inclusiva», Corriere della Sera.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Data incerta nella tesi (1962 vs 1964): da riconciliare.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EAF1F3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posta in gioco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25603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«miracolo economico» (1958–63) trasforma il paese.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Neoavanguardia: I Novissimi (1961), Gruppo 63 (1963).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poesia «include» il quotidiano e l’impoetico.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Domanda: la trascendenza è davvero esclusa?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MATERIALI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corpus: 56 raccolte, 41 autori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32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9000" y="2532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 (4 donne)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1960–65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532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quinquennio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43/56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06840" y="2532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Mondadori + Scheiwiller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filtri di selezione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03120" y="40050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Censimento OPAC SBN (escluse antologie, riviste, traduzioni, dialetto…)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5445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0312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editoriale (≈10 case nazionali di rilievo)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1114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5138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storico-critico (fortuna critica, classi di priorità)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LIBRO AL DATO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Digitalizzazione e lemmatizzazione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566928" cy="566928"/>
          </a:xfrm>
          <a:prstGeom prst="ellipse">
            <a:avLst/>
          </a:prstGeom>
          <a:solidFill>
            <a:srgbClr val="19788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Fotoriproduzione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Shine Ultra + app Czur (OCR). ~2 refusi/verso → correzione manuale.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11680"/>
            <a:ext cx="566928" cy="566928"/>
          </a:xfrm>
          <a:prstGeom prst="ellipse">
            <a:avLst/>
          </a:prstGeom>
          <a:solidFill>
            <a:srgbClr val="19788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Testo in Excel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Foglio «Info» + un foglio per poesia/sezione, righe etichettate.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011680"/>
            <a:ext cx="566928" cy="566928"/>
          </a:xfrm>
          <a:prstGeom prst="ellipse">
            <a:avLst/>
          </a:prstGeom>
          <a:solidFill>
            <a:srgbClr val="19788C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0982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Lemmatizzazione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78892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integrata in iVoc → lemma + categoria, poi correzione manuale.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Tagging: </a:t>
            </a:r>
            <a:pPr indent="0" marL="0">
              <a:buNone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ispirato a Savoca + 3 categorie nuove — abbr., </a:t>
            </a:r>
            <a:pPr indent="0" marL="0">
              <a:buNone/>
            </a:pPr>
            <a:r>
              <a:rPr lang="en-US" sz="1500" b="1" dirty="0">
                <a:solidFill>
                  <a:srgbClr val="E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punt. (punteggiatura)</a:t>
            </a:r>
            <a:pPr indent="0" marL="0">
              <a:buNone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simb. Taggare la punteggiatura permette di contare i 1161 «?».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STRUMENTO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iVoc: la prima concordanza sincronica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8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Concordanze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per lemma → tutti i luoghi testuali.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8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Ricerca avanzata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25146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Filtri: editore, anno, dimensioni, categoria, contenuti; lemmi simili (IA).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8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Statistiche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66760" y="25146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grafici: frequenze, hapax, nuvola, categorie, raccolte a confronto.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0A3E49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contributo originale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prima concordanza elettronica SINCRONICA della letteratura italiana: non una sola opera, non un’intera tradizione, non un secolo — un corpus ampio circoscritto a 5 anni.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AFFIDABILITÀ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margine d’errore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27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d’errore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(stimato per eccesso 0,6%)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828800"/>
            <a:ext cx="73152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è stato misurato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6583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a campione su Sereni, Gli strumenti umani (1965).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con una concordanza di Master indipendente (Candolfi, Fribourg).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errori su 8.895 parole = ≈0,2%.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a gradino: seconda rilettura integrale (~600 nel corpus).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(1/3)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numeri del corpus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766560" cy="265176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1640"/>
                <a:gridCol w="1691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iVoc (1960–65)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5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Savoca (1903–92)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8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Mauro (parlato)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B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Occorrenze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361.853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~419.979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496.335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Lemmi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 di ripetizione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82880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EAF1F3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Lettura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55280" y="2468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poesia è ~2× più varia del parlato. Triplicare gli autori rispetto a Savoca non aumenta la varietà: lessico più uniforme del previsto.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 senza punteggiatura (con punteggiatura: 419.912 occ., 23.158 lemmi, ind. 18,13).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(2/3)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parole più ricorrenti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749040" cy="3840480"/>
          </a:xfrm>
          <a:prstGeom prst="roundRect">
            <a:avLst>
              <a:gd name="adj" fmla="val 1951"/>
            </a:avLst>
          </a:prstGeom>
          <a:solidFill>
            <a:srgbClr val="EAF1F3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Tradizione al vertice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237744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«Vita» (s.f.) e «Amore» (s.m.): primi come nel Canzoniere di Petrarca.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12–14 dei top-20 sostantivi coincidono con i RVF.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i campi semantici si dispongono per antitesi: luce/ombra, giorno/notte, vita/morte.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(3/3)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Novità e parole condivise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 hapax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10.529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64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hapax (frequenza unica)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78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4.046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3264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cui sostantivi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Forestierismi, regionalismi, parlato: solo 4 su 24 attestati prima degli anni ’60 → apertura e novità lessicale.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 a tutti gli autori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20840" y="260604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Sostantivi: aria, cielo, giorno, mano, notte, occhio.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Aggettivo: lungo (unico; 279 occ.).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Verbi/avverbi ad alta frequenza del parlato (essere, vedere; non, più, sempre).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L’INTERPRETAZIONE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Cinque fils rouges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EAF1F3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37944"/>
            <a:ext cx="566928" cy="566928"/>
          </a:xfrm>
          <a:prstGeom prst="ellipse">
            <a:avLst/>
          </a:prstGeom>
          <a:solidFill>
            <a:srgbClr val="1978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Terminologia condivisa tra orientamenti opposti (Luzi, Giuliani, Zanzotto…)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569464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624328"/>
            <a:ext cx="566928" cy="566928"/>
          </a:xfrm>
          <a:prstGeom prst="ellipse">
            <a:avLst/>
          </a:prstGeom>
          <a:solidFill>
            <a:srgbClr val="19788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1640" y="2569464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Ricorrenza di campi semantici (gioia/dolore, natura, tempo, uomo)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355848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EAF1F3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410712"/>
            <a:ext cx="566928" cy="566928"/>
          </a:xfrm>
          <a:prstGeom prst="ellipse">
            <a:avLst/>
          </a:prstGeom>
          <a:solidFill>
            <a:srgbClr val="19788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91640" y="3355848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propensione per l’antitesi e il contrasto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97096"/>
            <a:ext cx="566928" cy="566928"/>
          </a:xfrm>
          <a:prstGeom prst="ellipse">
            <a:avLst/>
          </a:prstGeom>
          <a:solidFill>
            <a:srgbClr val="19788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97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91640" y="4142232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«Vita» pensata sempre insieme alla «morte»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928616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EAF1F3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983480"/>
            <a:ext cx="566928" cy="566928"/>
          </a:xfrm>
          <a:prstGeom prst="ellipse">
            <a:avLst/>
          </a:prstGeom>
          <a:solidFill>
            <a:srgbClr val="E8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91640" y="4928616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Presenza assoluta dell’interrogativo diretto, spesso esistenziale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CASO ESEMPLARE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«Vita» ↔ «morte» e l’interrogativo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occorrenze di «vita» (1° sostantivo)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0" y="1920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54/56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43400" y="25786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raccolte in cui ricorre «vita»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920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46720" y="25786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occorrenze di «?» nel corpus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79476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Seguendo «vita» — il lemma sovrano — </a:t>
            </a:r>
            <a:pPr indent="0" marL="0">
              <a:buNone/>
            </a:pPr>
            <a:r>
              <a:rPr lang="en-US" sz="1600" b="1" dirty="0">
                <a:solidFill>
                  <a:srgbClr val="E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incontra sempre la «morte»</a:t>
            </a:r>
            <a:pPr indent="0" marL="0">
              <a:buNone/>
            </a:pPr>
            <a:r>
              <a:rPr lang="en-US" sz="1600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per ossimoro, anafora o punta di verso, in Luzi, Giuliani, Zanzotto, Pasolini, Giudici. E ovunque affiora la domanda esistenziale. Il claim forte — «?» in tutte le 56 raccolte — è verificabile dentro iVoc voce per voce.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E5563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RISPOSTA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trascendenza ancora possibile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…ma «sotto vesti nuove».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9144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e il tormento esistenziali;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l’antitesi e il contrasto;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sperimentalismo formale;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l’apertura al lessico del parlato.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«seguila fino in fondo e troverai / la cometa in viaggio» verso la nuova poesia.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4800" b="1" dirty="0">
                <a:solidFill>
                  <a:srgbClr val="0E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41248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3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www.ivoc.unifr.ch  ·  Dipartimento di Italiano, Université de Fribourg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Difesa — concordanza poetica iVoc (1960-65)</dc:title>
  <dc:subject>PptxGenJS Presentation</dc:subject>
  <dc:creator>Badaracco-Guffi</dc:creator>
  <cp:lastModifiedBy>Badaracco-Guffi</cp:lastModifiedBy>
  <cp:revision>1</cp:revision>
  <dcterms:created xsi:type="dcterms:W3CDTF">2026-06-26T18:51:02Z</dcterms:created>
  <dcterms:modified xsi:type="dcterms:W3CDTF">2026-06-26T18:51:02Z</dcterms:modified>
</cp:coreProperties>
</file>